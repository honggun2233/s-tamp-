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image" Target="../media/image-3-26.png"/><Relationship Id="rId27" Type="http://schemas.openxmlformats.org/officeDocument/2006/relationships/image" Target="../media/image-3-27.png"/><Relationship Id="rId28" Type="http://schemas.openxmlformats.org/officeDocument/2006/relationships/image" Target="../media/image-3-28.png"/><Relationship Id="rId29" Type="http://schemas.openxmlformats.org/officeDocument/2006/relationships/image" Target="../media/image-3-29.png"/><Relationship Id="rId30" Type="http://schemas.openxmlformats.org/officeDocument/2006/relationships/image" Target="../media/image-3-30.png"/><Relationship Id="rId31" Type="http://schemas.openxmlformats.org/officeDocument/2006/relationships/image" Target="../media/image-3-31.png"/><Relationship Id="rId32" Type="http://schemas.openxmlformats.org/officeDocument/2006/relationships/image" Target="../media/image-3-32.png"/><Relationship Id="rId33" Type="http://schemas.openxmlformats.org/officeDocument/2006/relationships/image" Target="../media/image-3-33.png"/><Relationship Id="rId34" Type="http://schemas.openxmlformats.org/officeDocument/2006/relationships/image" Target="../media/image-3-34.png"/><Relationship Id="rId35" Type="http://schemas.openxmlformats.org/officeDocument/2006/relationships/image" Target="../media/image-3-35.png"/><Relationship Id="rId36" Type="http://schemas.openxmlformats.org/officeDocument/2006/relationships/image" Target="../media/image-3-36.png"/><Relationship Id="rId37" Type="http://schemas.openxmlformats.org/officeDocument/2006/relationships/image" Target="../media/image-3-37.png"/><Relationship Id="rId38" Type="http://schemas.openxmlformats.org/officeDocument/2006/relationships/image" Target="../media/image-3-38.png"/><Relationship Id="rId39" Type="http://schemas.openxmlformats.org/officeDocument/2006/relationships/image" Target="../media/image-3-39.png"/><Relationship Id="rId40" Type="http://schemas.openxmlformats.org/officeDocument/2006/relationships/image" Target="../media/image-3-40.png"/><Relationship Id="rId41" Type="http://schemas.openxmlformats.org/officeDocument/2006/relationships/image" Target="../media/image-3-41.png"/><Relationship Id="rId42" Type="http://schemas.openxmlformats.org/officeDocument/2006/relationships/image" Target="../media/image-3-42.png"/><Relationship Id="rId43" Type="http://schemas.openxmlformats.org/officeDocument/2006/relationships/image" Target="../media/image-3-43.png"/><Relationship Id="rId44" Type="http://schemas.openxmlformats.org/officeDocument/2006/relationships/image" Target="../media/image-3-44.png"/><Relationship Id="rId45" Type="http://schemas.openxmlformats.org/officeDocument/2006/relationships/image" Target="../media/image-3-45.png"/><Relationship Id="rId46" Type="http://schemas.openxmlformats.org/officeDocument/2006/relationships/image" Target="../media/image-3-46.png"/><Relationship Id="rId47" Type="http://schemas.openxmlformats.org/officeDocument/2006/relationships/image" Target="../media/image-3-47.png"/><Relationship Id="rId48" Type="http://schemas.openxmlformats.org/officeDocument/2006/relationships/image" Target="../media/image-3-48.png"/><Relationship Id="rId49" Type="http://schemas.openxmlformats.org/officeDocument/2006/relationships/image" Target="../media/image-3-49.png"/><Relationship Id="rId50" Type="http://schemas.openxmlformats.org/officeDocument/2006/relationships/image" Target="../media/image-3-50.png"/><Relationship Id="rId51" Type="http://schemas.openxmlformats.org/officeDocument/2006/relationships/slideLayout" Target="../slideLayouts/slideLayout1.xml"/><Relationship Id="rId5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396" b="-396"/>
          <a:stretch/>
        </p:blipFill>
        <p:spPr>
          <a:xfrm>
            <a:off x="7925105" y="6248095"/>
            <a:ext cx="4267505" cy="38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4EA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01207" y="-2381098"/>
            <a:ext cx="8572500" cy="85725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001207" y="3047695"/>
            <a:ext cx="5715000" cy="5715000"/>
          </a:xfrm>
          <a:prstGeom prst="ellipse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52805" y="933602"/>
            <a:ext cx="114300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700" b="1" spc="-225" kern="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S-TAMP</a:t>
            </a:r>
            <a:endParaRPr lang="en-US" sz="6700" dirty="0"/>
          </a:p>
        </p:txBody>
      </p:sp>
      <p:sp>
        <p:nvSpPr>
          <p:cNvPr id="9" name="Text 6"/>
          <p:cNvSpPr txBox="1"/>
          <p:nvPr/>
        </p:nvSpPr>
        <p:spPr>
          <a:xfrm>
            <a:off x="952805" y="1790395"/>
            <a:ext cx="115443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spc="-15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전자서명 시스템</a:t>
            </a:r>
            <a:endParaRPr lang="en-US" sz="5400" dirty="0"/>
          </a:p>
        </p:txBody>
      </p:sp>
      <p:sp>
        <p:nvSpPr>
          <p:cNvPr id="10" name="Text 7"/>
          <p:cNvSpPr txBox="1"/>
          <p:nvPr/>
        </p:nvSpPr>
        <p:spPr>
          <a:xfrm>
            <a:off x="952805" y="2613355"/>
            <a:ext cx="115443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spc="-15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 보고</a:t>
            </a:r>
            <a:endParaRPr lang="en-US" sz="5400" dirty="0"/>
          </a:p>
        </p:txBody>
      </p:sp>
      <p:sp>
        <p:nvSpPr>
          <p:cNvPr id="11" name="Text 8"/>
          <p:cNvSpPr txBox="1"/>
          <p:nvPr/>
        </p:nvSpPr>
        <p:spPr>
          <a:xfrm>
            <a:off x="952805" y="0"/>
            <a:ext cx="113541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38" kern="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SAMSUNG Asset Management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9743846" y="571500"/>
            <a:ext cx="1886407" cy="371246"/>
          </a:xfrm>
          <a:prstGeom prst="roundRect">
            <a:avLst>
              <a:gd name="adj" fmla="val 189466"/>
            </a:avLst>
          </a:prstGeom>
          <a:solidFill>
            <a:srgbClr val="000000">
              <a:alpha val="2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133381" y="657454"/>
            <a:ext cx="145389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대외비 (Confidential)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100" b="-1100"/>
          <a:stretch/>
        </p:blipFill>
        <p:spPr>
          <a:xfrm>
            <a:off x="9943186" y="693115"/>
            <a:ext cx="114300" cy="13350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52805" y="3722522"/>
            <a:ext cx="47549" cy="42885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228954" y="3722522"/>
            <a:ext cx="111538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spc="-37" kern="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S-TAMP 도입을 통한 디지털 혁신과 업무 효율화 성과</a:t>
            </a:r>
            <a:endParaRPr lang="en-US" sz="2400" dirty="0"/>
          </a:p>
        </p:txBody>
      </p:sp>
      <p:sp>
        <p:nvSpPr>
          <p:cNvPr id="17" name="Text 13"/>
          <p:cNvSpPr txBox="1"/>
          <p:nvPr/>
        </p:nvSpPr>
        <p:spPr>
          <a:xfrm>
            <a:off x="952805" y="6001207"/>
            <a:ext cx="113541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spc="38" kern="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3월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34EA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76402" y="137160"/>
            <a:ext cx="525505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-54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S-TAMP 도입 효과 한눈에 보기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76402" y="587045"/>
            <a:ext cx="4601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BEAFE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S-TAMP 전자서명 시스템을 통한 업무 효율화 정량 성과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74175" y="247802"/>
            <a:ext cx="254660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90" kern="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SAMSUNG ASSET MANAGEMENT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123883" y="437998"/>
            <a:ext cx="259689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pc="-37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DIGITAL TRANSFORMATION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952805"/>
            <a:ext cx="12191695" cy="5429707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6402" y="1238098"/>
            <a:ext cx="2781605" cy="1333195"/>
          </a:xfrm>
          <a:prstGeom prst="roundRect">
            <a:avLst>
              <a:gd name="adj" fmla="val 5879"/>
            </a:avLst>
          </a:prstGeom>
          <a:solidFill>
            <a:srgbClr val="F0F7FF"/>
          </a:solidFill>
          <a:ln/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6402" y="1238098"/>
            <a:ext cx="57607" cy="1333195"/>
          </a:xfrm>
          <a:prstGeom prst="roundRect">
            <a:avLst>
              <a:gd name="adj" fmla="val 136055"/>
            </a:avLst>
          </a:prstGeom>
          <a:solidFill>
            <a:srgbClr val="1428A0"/>
          </a:solidFill>
          <a:ln w="12700">
            <a:solidFill>
              <a:srgbClr val="1428A0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0354" y="1392631"/>
            <a:ext cx="21991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-12" kern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업무 시간 절감</a:t>
            </a:r>
            <a:endParaRPr lang="en-US" sz="12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1754" y="1431036"/>
            <a:ext cx="152705" cy="15270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71754" y="1698041"/>
            <a:ext cx="2427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108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736</a:t>
            </a:r>
            <a:pPr algn="l" indent="0" marL="0">
              <a:buNone/>
            </a:pPr>
            <a:r>
              <a:rPr lang="en-US" sz="1800" b="1" spc="-108" kern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MD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905256" y="2231136"/>
            <a:ext cx="22046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34EA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5,888 시간 절감</a:t>
            </a:r>
            <a:endParaRPr lang="en-US" sz="9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-1358" r="-1358" t="0" b="0"/>
          <a:stretch/>
        </p:blipFill>
        <p:spPr>
          <a:xfrm>
            <a:off x="771754" y="2262226"/>
            <a:ext cx="95098" cy="123444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446374" y="1238098"/>
            <a:ext cx="2781605" cy="1333195"/>
          </a:xfrm>
          <a:prstGeom prst="roundRect">
            <a:avLst>
              <a:gd name="adj" fmla="val 58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446374" y="1238098"/>
            <a:ext cx="57607" cy="1333195"/>
          </a:xfrm>
          <a:prstGeom prst="roundRect">
            <a:avLst>
              <a:gd name="adj" fmla="val 136055"/>
            </a:avLst>
          </a:prstGeom>
          <a:solidFill>
            <a:srgbClr val="034EA2"/>
          </a:solidFill>
          <a:ln w="1270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3969410" y="1392631"/>
            <a:ext cx="21991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-12" kern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효율화율</a:t>
            </a:r>
            <a:endParaRPr lang="en-US" sz="12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740810" y="1431036"/>
            <a:ext cx="152705" cy="15270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3740810" y="1698041"/>
            <a:ext cx="2427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108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83.6</a:t>
            </a:r>
            <a:pPr algn="l" indent="0" marL="0">
              <a:buNone/>
            </a:pPr>
            <a:r>
              <a:rPr lang="en-US" sz="1800" b="1" spc="-108" kern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</a:t>
            </a:r>
            <a:endParaRPr lang="en-US" sz="3600" dirty="0"/>
          </a:p>
        </p:txBody>
      </p:sp>
      <p:sp>
        <p:nvSpPr>
          <p:cNvPr id="22" name="Text 17"/>
          <p:cNvSpPr txBox="1"/>
          <p:nvPr/>
        </p:nvSpPr>
        <p:spPr>
          <a:xfrm>
            <a:off x="3740810" y="2231136"/>
            <a:ext cx="24277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34EA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프로세스 평균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415430" y="1238098"/>
            <a:ext cx="2781605" cy="1333195"/>
          </a:xfrm>
          <a:prstGeom prst="roundRect">
            <a:avLst>
              <a:gd name="adj" fmla="val 58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15430" y="1238098"/>
            <a:ext cx="57607" cy="1333195"/>
          </a:xfrm>
          <a:prstGeom prst="roundRect">
            <a:avLst>
              <a:gd name="adj" fmla="val 136055"/>
            </a:avLst>
          </a:prstGeom>
          <a:solidFill>
            <a:srgbClr val="034EA2"/>
          </a:solidFill>
          <a:ln w="1270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6920179" y="1392631"/>
            <a:ext cx="22183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-12" kern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최대 병목 개선</a:t>
            </a:r>
            <a:endParaRPr lang="en-US" sz="12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3" b="-43"/>
          <a:stretch/>
        </p:blipFill>
        <p:spPr>
          <a:xfrm>
            <a:off x="6710782" y="1431036"/>
            <a:ext cx="133502" cy="15270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710782" y="1698041"/>
            <a:ext cx="2427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108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95</a:t>
            </a:r>
            <a:pPr algn="l" indent="0" marL="0">
              <a:buNone/>
            </a:pPr>
            <a:r>
              <a:rPr lang="en-US" sz="1800" b="1" spc="-108" kern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</a:t>
            </a:r>
            <a:endParaRPr lang="en-US" sz="3600" dirty="0"/>
          </a:p>
        </p:txBody>
      </p:sp>
      <p:sp>
        <p:nvSpPr>
          <p:cNvPr id="28" name="Text 22"/>
          <p:cNvSpPr txBox="1"/>
          <p:nvPr/>
        </p:nvSpPr>
        <p:spPr>
          <a:xfrm>
            <a:off x="6710782" y="2231136"/>
            <a:ext cx="24277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34EA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날인 전달 시간 단축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9385402" y="1238098"/>
            <a:ext cx="2333549" cy="1333195"/>
          </a:xfrm>
          <a:prstGeom prst="roundRect">
            <a:avLst>
              <a:gd name="adj" fmla="val 5879"/>
            </a:avLst>
          </a:prstGeom>
          <a:solidFill>
            <a:srgbClr val="F3F4F6"/>
          </a:solidFill>
          <a:ln/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9385402" y="1238098"/>
            <a:ext cx="57607" cy="1333195"/>
          </a:xfrm>
          <a:prstGeom prst="roundRect">
            <a:avLst>
              <a:gd name="adj" fmla="val 136055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9870948" y="1464869"/>
            <a:ext cx="17547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-12" kern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타사 도입 사례</a:t>
            </a:r>
            <a:endParaRPr lang="en-US" sz="12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00" b="-100"/>
          <a:stretch/>
        </p:blipFill>
        <p:spPr>
          <a:xfrm>
            <a:off x="9680753" y="1502359"/>
            <a:ext cx="114300" cy="15270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680753" y="1816913"/>
            <a:ext cx="18772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-63" kern="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삼성 E&amp;A</a:t>
            </a:r>
            <a:endParaRPr lang="en-US" sz="2100" dirty="0"/>
          </a:p>
        </p:txBody>
      </p:sp>
      <p:sp>
        <p:nvSpPr>
          <p:cNvPr id="34" name="Text 27"/>
          <p:cNvSpPr txBox="1"/>
          <p:nvPr/>
        </p:nvSpPr>
        <p:spPr>
          <a:xfrm>
            <a:off x="9680753" y="2159813"/>
            <a:ext cx="1877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S-TAMP 도입 운영 성과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476402" y="2809951"/>
            <a:ext cx="11239805" cy="3286354"/>
          </a:xfrm>
          <a:prstGeom prst="roundRect">
            <a:avLst>
              <a:gd name="adj" fmla="val 96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09244" y="3095244"/>
            <a:ext cx="190195" cy="190195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114654" y="3047695"/>
            <a:ext cx="406908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프로세스별 Before &amp; After 비교 </a:t>
            </a:r>
            <a:pPr algn="l" indent="0" marL="0">
              <a:buNone/>
            </a:pPr>
            <a:r>
              <a:rPr lang="en-US" sz="1200" b="1" spc="-15" kern="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(단위: MD)</a:t>
            </a:r>
            <a:endParaRPr lang="en-US" sz="150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8868" y="3059582"/>
            <a:ext cx="1772107" cy="267005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4658868" y="3059582"/>
            <a:ext cx="1772107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-15" kern="0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기준: 월 1,600건 (1 MD = 8H)</a:t>
            </a:r>
            <a:endParaRPr lang="en-US" sz="900" dirty="0"/>
          </a:p>
        </p:txBody>
      </p:sp>
      <p:sp>
        <p:nvSpPr>
          <p:cNvPr id="40" name="Shape 31"/>
          <p:cNvSpPr/>
          <p:nvPr/>
        </p:nvSpPr>
        <p:spPr>
          <a:xfrm>
            <a:off x="809244" y="3524098"/>
            <a:ext cx="3372307" cy="2333549"/>
          </a:xfrm>
          <a:prstGeom prst="roundRect">
            <a:avLst>
              <a:gd name="adj" fmla="val 191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2"/>
          <p:cNvSpPr txBox="1"/>
          <p:nvPr/>
        </p:nvSpPr>
        <p:spPr>
          <a:xfrm>
            <a:off x="2238451" y="3771900"/>
            <a:ext cx="18864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문서 작성 </a:t>
            </a:r>
            <a:endParaRPr lang="en-US" sz="1500" dirty="0"/>
          </a:p>
        </p:txBody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2000707" y="3819449"/>
            <a:ext cx="142646" cy="190195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1794053" y="4038905"/>
            <a:ext cx="4288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160</a:t>
            </a:r>
            <a:endParaRPr lang="en-US" sz="1500" dirty="0"/>
          </a:p>
        </p:txBody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>
            <a:alphaModFix amt="80000"/>
          </a:blip>
          <a:srcRect l="0" r="0" t="-63" b="-63"/>
          <a:stretch/>
        </p:blipFill>
        <p:spPr>
          <a:xfrm>
            <a:off x="1658722" y="4343400"/>
            <a:ext cx="619049" cy="66751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1651406" y="4552798"/>
            <a:ext cx="6382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2" kern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</a:t>
            </a:r>
            <a:endParaRPr lang="en-US" sz="1000" dirty="0"/>
          </a:p>
        </p:txBody>
      </p:sp>
      <p:sp>
        <p:nvSpPr>
          <p:cNvPr id="46" name="Text 35"/>
          <p:cNvSpPr txBox="1"/>
          <p:nvPr/>
        </p:nvSpPr>
        <p:spPr>
          <a:xfrm>
            <a:off x="2900477" y="4038905"/>
            <a:ext cx="3145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80</a:t>
            </a:r>
            <a:endParaRPr lang="en-US" sz="1500" dirty="0"/>
          </a:p>
        </p:txBody>
      </p:sp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63" b="-63"/>
          <a:stretch/>
        </p:blipFill>
        <p:spPr>
          <a:xfrm>
            <a:off x="2706624" y="4343400"/>
            <a:ext cx="619049" cy="66751"/>
          </a:xfrm>
          <a:prstGeom prst="rect">
            <a:avLst/>
          </a:prstGeom>
        </p:spPr>
      </p:pic>
      <p:sp>
        <p:nvSpPr>
          <p:cNvPr id="48" name="Text 36"/>
          <p:cNvSpPr txBox="1"/>
          <p:nvPr/>
        </p:nvSpPr>
        <p:spPr>
          <a:xfrm>
            <a:off x="2754173" y="4552798"/>
            <a:ext cx="5239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2" kern="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</a:t>
            </a:r>
            <a:endParaRPr lang="en-US" sz="1000" dirty="0"/>
          </a:p>
        </p:txBody>
      </p:sp>
      <p:sp>
        <p:nvSpPr>
          <p:cNvPr id="49" name="Shape 37"/>
          <p:cNvSpPr/>
          <p:nvPr/>
        </p:nvSpPr>
        <p:spPr>
          <a:xfrm>
            <a:off x="1057046" y="5086807"/>
            <a:ext cx="2876702" cy="523951"/>
          </a:xfrm>
          <a:prstGeom prst="roundRect">
            <a:avLst>
              <a:gd name="adj" fmla="val 25385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38"/>
          <p:cNvSpPr txBox="1"/>
          <p:nvPr/>
        </p:nvSpPr>
        <p:spPr>
          <a:xfrm>
            <a:off x="1228954" y="5248656"/>
            <a:ext cx="6547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절감 효과</a:t>
            </a:r>
            <a:endParaRPr lang="en-US" sz="1000" dirty="0"/>
          </a:p>
        </p:txBody>
      </p:sp>
      <p:sp>
        <p:nvSpPr>
          <p:cNvPr id="51" name="Text 39"/>
          <p:cNvSpPr txBox="1"/>
          <p:nvPr/>
        </p:nvSpPr>
        <p:spPr>
          <a:xfrm>
            <a:off x="2860243" y="5219395"/>
            <a:ext cx="101498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80 MD 절감</a:t>
            </a:r>
            <a:endParaRPr lang="en-US" sz="1300" dirty="0"/>
          </a:p>
        </p:txBody>
      </p:sp>
      <p:sp>
        <p:nvSpPr>
          <p:cNvPr id="52" name="Shape 40"/>
          <p:cNvSpPr/>
          <p:nvPr/>
        </p:nvSpPr>
        <p:spPr>
          <a:xfrm>
            <a:off x="4412894" y="3524098"/>
            <a:ext cx="3372307" cy="2333549"/>
          </a:xfrm>
          <a:prstGeom prst="roundRect">
            <a:avLst>
              <a:gd name="adj" fmla="val 191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Text 41"/>
          <p:cNvSpPr txBox="1"/>
          <p:nvPr/>
        </p:nvSpPr>
        <p:spPr>
          <a:xfrm>
            <a:off x="5875934" y="3771900"/>
            <a:ext cx="185257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문서 결재 </a:t>
            </a:r>
            <a:endParaRPr lang="en-US" sz="1500" dirty="0"/>
          </a:p>
        </p:txBody>
      </p:sp>
      <p:pic>
        <p:nvPicPr>
          <p:cNvPr id="54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1092" b="-1092"/>
          <a:stretch/>
        </p:blipFill>
        <p:spPr>
          <a:xfrm>
            <a:off x="5571439" y="3819449"/>
            <a:ext cx="209398" cy="190195"/>
          </a:xfrm>
          <a:prstGeom prst="rect">
            <a:avLst/>
          </a:prstGeom>
        </p:spPr>
      </p:pic>
      <p:sp>
        <p:nvSpPr>
          <p:cNvPr id="55" name="Text 42"/>
          <p:cNvSpPr txBox="1"/>
          <p:nvPr/>
        </p:nvSpPr>
        <p:spPr>
          <a:xfrm>
            <a:off x="5456225" y="4038905"/>
            <a:ext cx="3145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80</a:t>
            </a:r>
            <a:endParaRPr lang="en-US" sz="1500" dirty="0"/>
          </a:p>
        </p:txBody>
      </p:sp>
      <p:pic>
        <p:nvPicPr>
          <p:cNvPr id="56" name="Image 11" descr="preencoded.png">    </p:cNvPr>
          <p:cNvPicPr>
            <a:picLocks noChangeAspect="1"/>
          </p:cNvPicPr>
          <p:nvPr/>
        </p:nvPicPr>
        <p:blipFill>
          <a:blip r:embed="rId12">
            <a:alphaModFix amt="80000"/>
          </a:blip>
          <a:srcRect l="0" r="0" t="-63" b="-63"/>
          <a:stretch/>
        </p:blipFill>
        <p:spPr>
          <a:xfrm>
            <a:off x="5262372" y="4343400"/>
            <a:ext cx="619049" cy="66751"/>
          </a:xfrm>
          <a:prstGeom prst="rect">
            <a:avLst/>
          </a:prstGeom>
        </p:spPr>
      </p:pic>
      <p:sp>
        <p:nvSpPr>
          <p:cNvPr id="57" name="Text 43"/>
          <p:cNvSpPr txBox="1"/>
          <p:nvPr/>
        </p:nvSpPr>
        <p:spPr>
          <a:xfrm>
            <a:off x="5255057" y="4552798"/>
            <a:ext cx="6382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2" kern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</a:t>
            </a:r>
            <a:endParaRPr lang="en-US" sz="1000" dirty="0"/>
          </a:p>
        </p:txBody>
      </p:sp>
      <p:sp>
        <p:nvSpPr>
          <p:cNvPr id="58" name="Text 44"/>
          <p:cNvSpPr txBox="1"/>
          <p:nvPr/>
        </p:nvSpPr>
        <p:spPr>
          <a:xfrm>
            <a:off x="6504127" y="4038905"/>
            <a:ext cx="3145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32</a:t>
            </a:r>
            <a:endParaRPr lang="en-US" sz="1500" dirty="0"/>
          </a:p>
        </p:txBody>
      </p:sp>
      <p:pic>
        <p:nvPicPr>
          <p:cNvPr id="59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63" b="-63"/>
          <a:stretch/>
        </p:blipFill>
        <p:spPr>
          <a:xfrm>
            <a:off x="6310274" y="4343400"/>
            <a:ext cx="619049" cy="66751"/>
          </a:xfrm>
          <a:prstGeom prst="rect">
            <a:avLst/>
          </a:prstGeom>
        </p:spPr>
      </p:pic>
      <p:sp>
        <p:nvSpPr>
          <p:cNvPr id="60" name="Text 45"/>
          <p:cNvSpPr txBox="1"/>
          <p:nvPr/>
        </p:nvSpPr>
        <p:spPr>
          <a:xfrm>
            <a:off x="6357823" y="4552798"/>
            <a:ext cx="5239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2" kern="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</a:t>
            </a:r>
            <a:endParaRPr lang="en-US" sz="1000" dirty="0"/>
          </a:p>
        </p:txBody>
      </p:sp>
      <p:sp>
        <p:nvSpPr>
          <p:cNvPr id="61" name="Shape 46"/>
          <p:cNvSpPr/>
          <p:nvPr/>
        </p:nvSpPr>
        <p:spPr>
          <a:xfrm>
            <a:off x="4660697" y="5086807"/>
            <a:ext cx="2876702" cy="523951"/>
          </a:xfrm>
          <a:prstGeom prst="roundRect">
            <a:avLst>
              <a:gd name="adj" fmla="val 25385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47"/>
          <p:cNvSpPr txBox="1"/>
          <p:nvPr/>
        </p:nvSpPr>
        <p:spPr>
          <a:xfrm>
            <a:off x="4832604" y="5248656"/>
            <a:ext cx="6547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절감 효과</a:t>
            </a:r>
            <a:endParaRPr lang="en-US" sz="1000" dirty="0"/>
          </a:p>
        </p:txBody>
      </p:sp>
      <p:sp>
        <p:nvSpPr>
          <p:cNvPr id="63" name="Text 48"/>
          <p:cNvSpPr txBox="1"/>
          <p:nvPr/>
        </p:nvSpPr>
        <p:spPr>
          <a:xfrm>
            <a:off x="6463894" y="5219395"/>
            <a:ext cx="101498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48 MD 절감</a:t>
            </a:r>
            <a:endParaRPr lang="en-US" sz="1300" dirty="0"/>
          </a:p>
        </p:txBody>
      </p:sp>
      <p:sp>
        <p:nvSpPr>
          <p:cNvPr id="64" name="Shape 49"/>
          <p:cNvSpPr/>
          <p:nvPr/>
        </p:nvSpPr>
        <p:spPr>
          <a:xfrm>
            <a:off x="8016545" y="3524098"/>
            <a:ext cx="3372307" cy="2333549"/>
          </a:xfrm>
          <a:prstGeom prst="roundRect">
            <a:avLst>
              <a:gd name="adj" fmla="val 191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5" name="Text 50"/>
          <p:cNvSpPr txBox="1"/>
          <p:nvPr/>
        </p:nvSpPr>
        <p:spPr>
          <a:xfrm>
            <a:off x="9469526" y="3771900"/>
            <a:ext cx="186263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날인 전달 </a:t>
            </a:r>
            <a:endParaRPr lang="en-US" sz="1500" dirty="0"/>
          </a:p>
        </p:txBody>
      </p:sp>
      <p:pic>
        <p:nvPicPr>
          <p:cNvPr id="66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9184234" y="3819449"/>
            <a:ext cx="190195" cy="190195"/>
          </a:xfrm>
          <a:prstGeom prst="rect">
            <a:avLst/>
          </a:prstGeom>
        </p:spPr>
      </p:pic>
      <p:sp>
        <p:nvSpPr>
          <p:cNvPr id="67" name="Text 51"/>
          <p:cNvSpPr txBox="1"/>
          <p:nvPr/>
        </p:nvSpPr>
        <p:spPr>
          <a:xfrm>
            <a:off x="9001354" y="4038905"/>
            <a:ext cx="4288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640</a:t>
            </a:r>
            <a:endParaRPr lang="en-US" sz="1500" dirty="0"/>
          </a:p>
        </p:txBody>
      </p:sp>
      <p:pic>
        <p:nvPicPr>
          <p:cNvPr id="68" name="Image 14" descr="preencoded.png">    </p:cNvPr>
          <p:cNvPicPr>
            <a:picLocks noChangeAspect="1"/>
          </p:cNvPicPr>
          <p:nvPr/>
        </p:nvPicPr>
        <p:blipFill>
          <a:blip r:embed="rId15">
            <a:alphaModFix amt="80000"/>
          </a:blip>
          <a:srcRect l="0" r="0" t="-63" b="-63"/>
          <a:stretch/>
        </p:blipFill>
        <p:spPr>
          <a:xfrm>
            <a:off x="8866022" y="4343400"/>
            <a:ext cx="619049" cy="66751"/>
          </a:xfrm>
          <a:prstGeom prst="rect">
            <a:avLst/>
          </a:prstGeom>
        </p:spPr>
      </p:pic>
      <p:sp>
        <p:nvSpPr>
          <p:cNvPr id="69" name="Text 52"/>
          <p:cNvSpPr txBox="1"/>
          <p:nvPr/>
        </p:nvSpPr>
        <p:spPr>
          <a:xfrm>
            <a:off x="8858707" y="4552798"/>
            <a:ext cx="6382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2" kern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</a:t>
            </a:r>
            <a:endParaRPr lang="en-US" sz="1000" dirty="0"/>
          </a:p>
        </p:txBody>
      </p:sp>
      <p:sp>
        <p:nvSpPr>
          <p:cNvPr id="70" name="Text 53"/>
          <p:cNvSpPr txBox="1"/>
          <p:nvPr/>
        </p:nvSpPr>
        <p:spPr>
          <a:xfrm>
            <a:off x="10107778" y="4038905"/>
            <a:ext cx="3145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32</a:t>
            </a:r>
            <a:endParaRPr lang="en-US" sz="1500" dirty="0"/>
          </a:p>
        </p:txBody>
      </p:sp>
      <p:pic>
        <p:nvPicPr>
          <p:cNvPr id="71" name="Image 15" descr="preencoded.png">    </p:cNvPr>
          <p:cNvPicPr>
            <a:picLocks noChangeAspect="1"/>
          </p:cNvPicPr>
          <p:nvPr/>
        </p:nvPicPr>
        <p:blipFill>
          <a:blip r:embed="rId16"/>
          <a:srcRect l="-37" r="-37" t="0" b="0"/>
          <a:stretch/>
        </p:blipFill>
        <p:spPr>
          <a:xfrm>
            <a:off x="9913925" y="4348886"/>
            <a:ext cx="619049" cy="61265"/>
          </a:xfrm>
          <a:prstGeom prst="rect">
            <a:avLst/>
          </a:prstGeom>
        </p:spPr>
      </p:pic>
      <p:sp>
        <p:nvSpPr>
          <p:cNvPr id="72" name="Text 54"/>
          <p:cNvSpPr txBox="1"/>
          <p:nvPr/>
        </p:nvSpPr>
        <p:spPr>
          <a:xfrm>
            <a:off x="9961474" y="4552798"/>
            <a:ext cx="5239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2" kern="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</a:t>
            </a:r>
            <a:endParaRPr lang="en-US" sz="1000" dirty="0"/>
          </a:p>
        </p:txBody>
      </p:sp>
      <p:sp>
        <p:nvSpPr>
          <p:cNvPr id="73" name="Shape 55"/>
          <p:cNvSpPr/>
          <p:nvPr/>
        </p:nvSpPr>
        <p:spPr>
          <a:xfrm>
            <a:off x="8264347" y="5086807"/>
            <a:ext cx="2876702" cy="523951"/>
          </a:xfrm>
          <a:prstGeom prst="roundRect">
            <a:avLst>
              <a:gd name="adj" fmla="val 25385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Text 56"/>
          <p:cNvSpPr txBox="1"/>
          <p:nvPr/>
        </p:nvSpPr>
        <p:spPr>
          <a:xfrm>
            <a:off x="8436254" y="5248656"/>
            <a:ext cx="6547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절감 효과</a:t>
            </a:r>
            <a:endParaRPr lang="en-US" sz="1000" dirty="0"/>
          </a:p>
        </p:txBody>
      </p:sp>
      <p:sp>
        <p:nvSpPr>
          <p:cNvPr id="75" name="Text 57"/>
          <p:cNvSpPr txBox="1"/>
          <p:nvPr/>
        </p:nvSpPr>
        <p:spPr>
          <a:xfrm>
            <a:off x="9963302" y="5219395"/>
            <a:ext cx="11247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608 MD 절감</a:t>
            </a:r>
            <a:endParaRPr lang="en-US" sz="1300" dirty="0"/>
          </a:p>
        </p:txBody>
      </p:sp>
      <p:sp>
        <p:nvSpPr>
          <p:cNvPr id="76" name="Shape 58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Shape 59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78" name="Text 60"/>
          <p:cNvSpPr txBox="1"/>
          <p:nvPr/>
        </p:nvSpPr>
        <p:spPr>
          <a:xfrm>
            <a:off x="476402" y="6538874"/>
            <a:ext cx="238109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2026.03 삼성자산운용 전자서명 중간보고</a:t>
            </a:r>
            <a:endParaRPr lang="en-US" sz="900" dirty="0"/>
          </a:p>
        </p:txBody>
      </p:sp>
      <p:sp>
        <p:nvSpPr>
          <p:cNvPr id="79" name="Text 61"/>
          <p:cNvSpPr txBox="1"/>
          <p:nvPr/>
        </p:nvSpPr>
        <p:spPr>
          <a:xfrm>
            <a:off x="10058400" y="6538874"/>
            <a:ext cx="6483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SAMSUNG</a:t>
            </a:r>
            <a:endParaRPr lang="en-US" sz="900" dirty="0"/>
          </a:p>
        </p:txBody>
      </p:sp>
      <p:sp>
        <p:nvSpPr>
          <p:cNvPr id="80" name="Text 62"/>
          <p:cNvSpPr txBox="1"/>
          <p:nvPr/>
        </p:nvSpPr>
        <p:spPr>
          <a:xfrm>
            <a:off x="10700309" y="6538874"/>
            <a:ext cx="113842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 Management</a:t>
            </a:r>
            <a:endParaRPr lang="en-US" sz="900" dirty="0"/>
          </a:p>
        </p:txBody>
      </p:sp>
      <p:sp>
        <p:nvSpPr>
          <p:cNvPr id="81" name="Shape 63"/>
          <p:cNvSpPr/>
          <p:nvPr/>
        </p:nvSpPr>
        <p:spPr>
          <a:xfrm>
            <a:off x="1774850" y="4592117"/>
            <a:ext cx="1438351" cy="192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82" name="Shape 64"/>
          <p:cNvSpPr/>
          <p:nvPr/>
        </p:nvSpPr>
        <p:spPr>
          <a:xfrm>
            <a:off x="5378501" y="4592117"/>
            <a:ext cx="1438351" cy="192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83" name="Shape 65"/>
          <p:cNvSpPr/>
          <p:nvPr/>
        </p:nvSpPr>
        <p:spPr>
          <a:xfrm>
            <a:off x="8982151" y="4592117"/>
            <a:ext cx="1438351" cy="192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pic>
        <p:nvPicPr>
          <p:cNvPr id="8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104034" y="4418381"/>
            <a:ext cx="780898" cy="352044"/>
          </a:xfrm>
          <a:prstGeom prst="rect">
            <a:avLst/>
          </a:prstGeom>
        </p:spPr>
      </p:pic>
      <p:sp>
        <p:nvSpPr>
          <p:cNvPr id="85" name="Text 66"/>
          <p:cNvSpPr/>
          <p:nvPr/>
        </p:nvSpPr>
        <p:spPr>
          <a:xfrm>
            <a:off x="2104034" y="4418381"/>
            <a:ext cx="781812" cy="35295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0B98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 50%</a:t>
            </a:r>
            <a:endParaRPr lang="en-US" sz="1100" dirty="0"/>
          </a:p>
        </p:txBody>
      </p:sp>
      <p:pic>
        <p:nvPicPr>
          <p:cNvPr id="8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07685" y="4418381"/>
            <a:ext cx="780898" cy="352044"/>
          </a:xfrm>
          <a:prstGeom prst="rect">
            <a:avLst/>
          </a:prstGeom>
        </p:spPr>
      </p:pic>
      <p:sp>
        <p:nvSpPr>
          <p:cNvPr id="87" name="Text 67"/>
          <p:cNvSpPr/>
          <p:nvPr/>
        </p:nvSpPr>
        <p:spPr>
          <a:xfrm>
            <a:off x="5707685" y="4418381"/>
            <a:ext cx="781812" cy="35295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0B98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 60%</a:t>
            </a:r>
            <a:endParaRPr lang="en-US" sz="1100" dirty="0"/>
          </a:p>
        </p:txBody>
      </p:sp>
      <p:pic>
        <p:nvPicPr>
          <p:cNvPr id="8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11335" y="4418381"/>
            <a:ext cx="780898" cy="352044"/>
          </a:xfrm>
          <a:prstGeom prst="rect">
            <a:avLst/>
          </a:prstGeom>
        </p:spPr>
      </p:pic>
      <p:sp>
        <p:nvSpPr>
          <p:cNvPr id="89" name="Text 68"/>
          <p:cNvSpPr/>
          <p:nvPr/>
        </p:nvSpPr>
        <p:spPr>
          <a:xfrm>
            <a:off x="9311335" y="4418381"/>
            <a:ext cx="781812" cy="35295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0B98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 95%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57707"/>
            <a:ext cx="12191695" cy="56199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6402" y="1047902"/>
            <a:ext cx="11239805" cy="3161995"/>
          </a:xfrm>
          <a:prstGeom prst="roundRect">
            <a:avLst>
              <a:gd name="adj" fmla="val 104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942746"/>
            <a:ext cx="1123798" cy="3337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6656" y="942746"/>
            <a:ext cx="1124712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-22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As-Is (현행)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95067" y="1383487"/>
            <a:ext cx="5248656" cy="2686507"/>
          </a:xfrm>
          <a:prstGeom prst="roundRect">
            <a:avLst>
              <a:gd name="adj" fmla="val 1448"/>
            </a:avLst>
          </a:prstGeom>
          <a:solidFill>
            <a:srgbClr val="FEE2E2">
              <a:alpha val="40000"/>
            </a:srgbClr>
          </a:solidFill>
          <a:ln w="25400">
            <a:solidFill>
              <a:srgbClr val="EF444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990" y="1269187"/>
            <a:ext cx="2838298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79138" y="1269187"/>
            <a:ext cx="2563063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Pain Point: 인감 로그 기록을 위해 별도 중복 결재</a:t>
            </a:r>
            <a:endParaRPr lang="en-US" sz="9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917290" y="1325880"/>
            <a:ext cx="114300" cy="1143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939089" y="2889504"/>
            <a:ext cx="1533449" cy="905256"/>
          </a:xfrm>
          <a:prstGeom prst="roundRect">
            <a:avLst>
              <a:gd name="adj" fmla="val 10633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>
            <a:alphaModFix amt="90000"/>
          </a:blip>
          <a:srcRect l="0" r="0" t="0" b="0"/>
          <a:stretch/>
        </p:blipFill>
        <p:spPr>
          <a:xfrm>
            <a:off x="1607515" y="3128162"/>
            <a:ext cx="190195" cy="19019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410005" y="3395167"/>
            <a:ext cx="59161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-29" kern="0" dirty="0">
                <a:solidFill>
                  <a:srgbClr val="374151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실물 보관</a:t>
            </a:r>
            <a:endParaRPr lang="en-US" sz="9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5960" y="2803550"/>
            <a:ext cx="543154" cy="2194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965960" y="2803550"/>
            <a:ext cx="543154" cy="2194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CA5A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-15" kern="0" dirty="0">
                <a:solidFill>
                  <a:srgbClr val="B91C1C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공간 소모</a:t>
            </a:r>
            <a:endParaRPr lang="en-US" sz="800" dirty="0"/>
          </a:p>
        </p:txBody>
      </p:sp>
      <p:sp>
        <p:nvSpPr>
          <p:cNvPr id="17" name="Shape 10"/>
          <p:cNvSpPr/>
          <p:nvPr/>
        </p:nvSpPr>
        <p:spPr>
          <a:xfrm>
            <a:off x="2695651" y="2889504"/>
            <a:ext cx="1533449" cy="905256"/>
          </a:xfrm>
          <a:prstGeom prst="roundRect">
            <a:avLst>
              <a:gd name="adj" fmla="val 106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rcRect l="-1648" r="-1648" t="0" b="0"/>
          <a:stretch/>
        </p:blipFill>
        <p:spPr>
          <a:xfrm>
            <a:off x="3374136" y="3128162"/>
            <a:ext cx="171907" cy="190195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3166567" y="3395167"/>
            <a:ext cx="59161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-29" kern="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수신 확인</a:t>
            </a:r>
            <a:endParaRPr lang="en-US" sz="9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43" b="-43"/>
          <a:stretch/>
        </p:blipFill>
        <p:spPr>
          <a:xfrm>
            <a:off x="2514600" y="3265322"/>
            <a:ext cx="133502" cy="152705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4453128" y="2889504"/>
            <a:ext cx="1533449" cy="905256"/>
          </a:xfrm>
          <a:prstGeom prst="roundRect">
            <a:avLst>
              <a:gd name="adj" fmla="val 10633"/>
            </a:avLst>
          </a:prstGeom>
          <a:solidFill>
            <a:srgbClr val="FFF1F2"/>
          </a:solidFill>
          <a:ln w="12700">
            <a:solidFill>
              <a:srgbClr val="FCA5A5"/>
            </a:solidFill>
            <a:prstDash val="solid"/>
          </a:ln>
        </p:spPr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122469" y="3128162"/>
            <a:ext cx="190195" cy="190195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4758538" y="3395167"/>
            <a:ext cx="9244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-29" kern="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우편/팩스 발송</a:t>
            </a:r>
            <a:endParaRPr lang="en-US" sz="9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43" b="-43"/>
          <a:stretch/>
        </p:blipFill>
        <p:spPr>
          <a:xfrm>
            <a:off x="4272077" y="3265322"/>
            <a:ext cx="133502" cy="152705"/>
          </a:xfrm>
          <a:prstGeom prst="rect">
            <a:avLst/>
          </a:prstGeom>
        </p:spPr>
      </p:pic>
      <p:sp>
        <p:nvSpPr>
          <p:cNvPr id="25" name="Shape 14"/>
          <p:cNvSpPr/>
          <p:nvPr/>
        </p:nvSpPr>
        <p:spPr>
          <a:xfrm>
            <a:off x="6210605" y="2889504"/>
            <a:ext cx="1533449" cy="905256"/>
          </a:xfrm>
          <a:prstGeom prst="roundRect">
            <a:avLst>
              <a:gd name="adj" fmla="val 10633"/>
            </a:avLst>
          </a:prstGeom>
          <a:solidFill>
            <a:srgbClr val="FFF1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6" name="Text 15"/>
          <p:cNvSpPr txBox="1"/>
          <p:nvPr/>
        </p:nvSpPr>
        <p:spPr>
          <a:xfrm>
            <a:off x="6681521" y="3299155"/>
            <a:ext cx="59161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-29" kern="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스캔 작업</a:t>
            </a:r>
            <a:endParaRPr lang="en-US" sz="90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43" b="-43"/>
          <a:stretch/>
        </p:blipFill>
        <p:spPr>
          <a:xfrm>
            <a:off x="6029554" y="3265322"/>
            <a:ext cx="133502" cy="152705"/>
          </a:xfrm>
          <a:prstGeom prst="rect">
            <a:avLst/>
          </a:prstGeom>
        </p:spPr>
      </p:pic>
      <p:sp>
        <p:nvSpPr>
          <p:cNvPr id="28" name="Shape 16"/>
          <p:cNvSpPr/>
          <p:nvPr/>
        </p:nvSpPr>
        <p:spPr>
          <a:xfrm>
            <a:off x="7967167" y="2889504"/>
            <a:ext cx="1533449" cy="905256"/>
          </a:xfrm>
          <a:prstGeom prst="roundRect">
            <a:avLst>
              <a:gd name="adj" fmla="val 106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8636508" y="3128162"/>
            <a:ext cx="190195" cy="190195"/>
          </a:xfrm>
          <a:prstGeom prst="rect">
            <a:avLst/>
          </a:prstGeom>
        </p:spPr>
      </p:pic>
      <p:sp>
        <p:nvSpPr>
          <p:cNvPr id="30" name="Text 17"/>
          <p:cNvSpPr txBox="1"/>
          <p:nvPr/>
        </p:nvSpPr>
        <p:spPr>
          <a:xfrm>
            <a:off x="8438083" y="3395167"/>
            <a:ext cx="59161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-29" kern="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날인 실행</a:t>
            </a:r>
            <a:endParaRPr lang="en-US" sz="900" dirty="0"/>
          </a:p>
        </p:txBody>
      </p:sp>
      <p:pic>
        <p:nvPicPr>
          <p:cNvPr id="31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43" b="-43"/>
          <a:stretch/>
        </p:blipFill>
        <p:spPr>
          <a:xfrm>
            <a:off x="7786116" y="3265322"/>
            <a:ext cx="133502" cy="152705"/>
          </a:xfrm>
          <a:prstGeom prst="rect">
            <a:avLst/>
          </a:prstGeom>
        </p:spPr>
      </p:pic>
      <p:sp>
        <p:nvSpPr>
          <p:cNvPr id="32" name="Shape 18"/>
          <p:cNvSpPr/>
          <p:nvPr/>
        </p:nvSpPr>
        <p:spPr>
          <a:xfrm>
            <a:off x="9724644" y="2889504"/>
            <a:ext cx="1533449" cy="905256"/>
          </a:xfrm>
          <a:prstGeom prst="roundRect">
            <a:avLst>
              <a:gd name="adj" fmla="val 10633"/>
            </a:avLst>
          </a:prstGeom>
          <a:solidFill>
            <a:srgbClr val="FFF1F2"/>
          </a:solidFill>
          <a:ln w="12700">
            <a:solidFill>
              <a:srgbClr val="FCA5A5"/>
            </a:solidFill>
            <a:prstDash val="solid"/>
          </a:ln>
        </p:spPr>
      </p:sp>
      <p:pic>
        <p:nvPicPr>
          <p:cNvPr id="33" name="Image 12" descr="preencoded.png">    </p:cNvPr>
          <p:cNvPicPr>
            <a:picLocks noChangeAspect="1"/>
          </p:cNvPicPr>
          <p:nvPr/>
        </p:nvPicPr>
        <p:blipFill>
          <a:blip r:embed="rId13"/>
          <a:srcRect l="-1923" r="-1923" t="0" b="0"/>
          <a:stretch/>
        </p:blipFill>
        <p:spPr>
          <a:xfrm>
            <a:off x="10426903" y="3128162"/>
            <a:ext cx="123444" cy="190195"/>
          </a:xfrm>
          <a:prstGeom prst="rect">
            <a:avLst/>
          </a:prstGeom>
        </p:spPr>
      </p:pic>
      <p:sp>
        <p:nvSpPr>
          <p:cNvPr id="34" name="Text 19"/>
          <p:cNvSpPr txBox="1"/>
          <p:nvPr/>
        </p:nvSpPr>
        <p:spPr>
          <a:xfrm>
            <a:off x="10133381" y="3395167"/>
            <a:ext cx="7196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-29" kern="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물리적 이동</a:t>
            </a:r>
            <a:endParaRPr lang="en-US" sz="900" dirty="0"/>
          </a:p>
        </p:txBody>
      </p:sp>
      <p:sp>
        <p:nvSpPr>
          <p:cNvPr id="35" name="Text 20"/>
          <p:cNvSpPr txBox="1"/>
          <p:nvPr/>
        </p:nvSpPr>
        <p:spPr>
          <a:xfrm>
            <a:off x="3985870" y="4245559"/>
            <a:ext cx="767364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-21" kern="0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인감 로그 기록을 위해 별도 시스템(ATIS)에서 </a:t>
            </a:r>
            <a:pPr algn="l" indent="0" marL="0">
              <a:buNone/>
            </a:pPr>
            <a:r>
              <a:rPr lang="en-US" sz="1000" b="1" spc="-21" kern="0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 결재</a:t>
            </a:r>
            <a:pPr algn="l" indent="0" marL="0">
              <a:buNone/>
            </a:pPr>
            <a:r>
              <a:rPr lang="en-US" sz="1000" b="1" spc="-21" kern="0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받아야 하는 불편함 존재 </a:t>
            </a:r>
            <a:endParaRPr lang="en-US" sz="1000" dirty="0"/>
          </a:p>
        </p:txBody>
      </p:sp>
      <p:pic>
        <p:nvPicPr>
          <p:cNvPr id="36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3740810" y="4281221"/>
            <a:ext cx="133502" cy="133502"/>
          </a:xfrm>
          <a:prstGeom prst="rect">
            <a:avLst/>
          </a:prstGeom>
        </p:spPr>
      </p:pic>
      <p:sp>
        <p:nvSpPr>
          <p:cNvPr id="37" name="Shape 21"/>
          <p:cNvSpPr/>
          <p:nvPr/>
        </p:nvSpPr>
        <p:spPr>
          <a:xfrm>
            <a:off x="476402" y="4350715"/>
            <a:ext cx="11239805" cy="1943100"/>
          </a:xfrm>
          <a:prstGeom prst="roundRect">
            <a:avLst>
              <a:gd name="adj" fmla="val 276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3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6656" y="4245559"/>
            <a:ext cx="1181405" cy="333756"/>
          </a:xfrm>
          <a:prstGeom prst="rect">
            <a:avLst/>
          </a:prstGeom>
        </p:spPr>
      </p:pic>
      <p:sp>
        <p:nvSpPr>
          <p:cNvPr id="39" name="Text 22"/>
          <p:cNvSpPr/>
          <p:nvPr/>
        </p:nvSpPr>
        <p:spPr>
          <a:xfrm>
            <a:off x="676656" y="4245559"/>
            <a:ext cx="1181405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-22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To-Be (개선)</a:t>
            </a:r>
            <a:endParaRPr lang="en-US" sz="1100" dirty="0"/>
          </a:p>
        </p:txBody>
      </p:sp>
      <p:sp>
        <p:nvSpPr>
          <p:cNvPr id="40" name="Shape 23"/>
          <p:cNvSpPr/>
          <p:nvPr/>
        </p:nvSpPr>
        <p:spPr>
          <a:xfrm>
            <a:off x="4000500" y="5298948"/>
            <a:ext cx="952805" cy="38405"/>
          </a:xfrm>
          <a:prstGeom prst="rect">
            <a:avLst/>
          </a:prstGeom>
          <a:solidFill>
            <a:srgbClr val="BFDB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24"/>
          <p:cNvSpPr txBox="1"/>
          <p:nvPr/>
        </p:nvSpPr>
        <p:spPr>
          <a:xfrm>
            <a:off x="3962095" y="5070348"/>
            <a:ext cx="10287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5" kern="0" dirty="0">
                <a:solidFill>
                  <a:srgbClr val="034EA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One-Click</a:t>
            </a:r>
            <a:endParaRPr lang="en-US" sz="900" dirty="0"/>
          </a:p>
        </p:txBody>
      </p:sp>
      <p:sp>
        <p:nvSpPr>
          <p:cNvPr id="42" name="Shape 25"/>
          <p:cNvSpPr/>
          <p:nvPr/>
        </p:nvSpPr>
        <p:spPr>
          <a:xfrm>
            <a:off x="7239305" y="5298948"/>
            <a:ext cx="952805" cy="38405"/>
          </a:xfrm>
          <a:prstGeom prst="rect">
            <a:avLst/>
          </a:prstGeom>
          <a:solidFill>
            <a:srgbClr val="BFDB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26"/>
          <p:cNvSpPr txBox="1"/>
          <p:nvPr/>
        </p:nvSpPr>
        <p:spPr>
          <a:xfrm>
            <a:off x="7200900" y="5070348"/>
            <a:ext cx="10287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5" kern="0" dirty="0">
                <a:solidFill>
                  <a:srgbClr val="034EA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 Send</a:t>
            </a:r>
            <a:endParaRPr lang="en-US" sz="900" dirty="0"/>
          </a:p>
        </p:txBody>
      </p:sp>
      <p:sp>
        <p:nvSpPr>
          <p:cNvPr id="44" name="Text 27"/>
          <p:cNvSpPr txBox="1"/>
          <p:nvPr/>
        </p:nvSpPr>
        <p:spPr>
          <a:xfrm>
            <a:off x="3945636" y="6229807"/>
            <a:ext cx="763706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S-TAMP</a:t>
            </a:r>
            <a:pPr algn="l" indent="0" marL="0">
              <a:buNone/>
            </a:pPr>
            <a:r>
              <a:rPr lang="en-US" sz="1000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결재와 인감 로그를 통합 관리하여 </a:t>
            </a:r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이중 결재 불필요</a:t>
            </a:r>
            <a:pPr algn="l" indent="0" marL="0">
              <a:buNone/>
            </a:pPr>
            <a:r>
              <a:rPr lang="en-US" sz="1000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(One-Stop 처리) </a:t>
            </a:r>
            <a:endParaRPr lang="en-US" sz="1000" dirty="0"/>
          </a:p>
        </p:txBody>
      </p:sp>
      <p:pic>
        <p:nvPicPr>
          <p:cNvPr id="45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3736238" y="6265469"/>
            <a:ext cx="133502" cy="133502"/>
          </a:xfrm>
          <a:prstGeom prst="rect">
            <a:avLst/>
          </a:prstGeom>
        </p:spPr>
      </p:pic>
      <p:sp>
        <p:nvSpPr>
          <p:cNvPr id="46" name="Shape 28"/>
          <p:cNvSpPr/>
          <p:nvPr/>
        </p:nvSpPr>
        <p:spPr>
          <a:xfrm>
            <a:off x="939089" y="1651406"/>
            <a:ext cx="1533449" cy="905256"/>
          </a:xfrm>
          <a:prstGeom prst="roundRect">
            <a:avLst>
              <a:gd name="adj" fmla="val 106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47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1631290" y="1890065"/>
            <a:ext cx="142646" cy="190195"/>
          </a:xfrm>
          <a:prstGeom prst="rect">
            <a:avLst/>
          </a:prstGeom>
        </p:spPr>
      </p:pic>
      <p:sp>
        <p:nvSpPr>
          <p:cNvPr id="48" name="Text 29"/>
          <p:cNvSpPr txBox="1"/>
          <p:nvPr/>
        </p:nvSpPr>
        <p:spPr>
          <a:xfrm>
            <a:off x="1410005" y="2156155"/>
            <a:ext cx="59161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-29" kern="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작성</a:t>
            </a:r>
            <a:endParaRPr lang="en-US" sz="900" dirty="0"/>
          </a:p>
        </p:txBody>
      </p:sp>
      <p:pic>
        <p:nvPicPr>
          <p:cNvPr id="49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-43" b="-43"/>
          <a:stretch/>
        </p:blipFill>
        <p:spPr>
          <a:xfrm>
            <a:off x="2514600" y="2027225"/>
            <a:ext cx="133502" cy="152705"/>
          </a:xfrm>
          <a:prstGeom prst="rect">
            <a:avLst/>
          </a:prstGeom>
        </p:spPr>
      </p:pic>
      <p:sp>
        <p:nvSpPr>
          <p:cNvPr id="50" name="Shape 30"/>
          <p:cNvSpPr/>
          <p:nvPr/>
        </p:nvSpPr>
        <p:spPr>
          <a:xfrm>
            <a:off x="2695651" y="1651406"/>
            <a:ext cx="1533449" cy="905256"/>
          </a:xfrm>
          <a:prstGeom prst="roundRect">
            <a:avLst>
              <a:gd name="adj" fmla="val 106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51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3341218" y="1809598"/>
            <a:ext cx="237744" cy="190195"/>
          </a:xfrm>
          <a:prstGeom prst="rect">
            <a:avLst/>
          </a:prstGeom>
        </p:spPr>
      </p:pic>
      <p:sp>
        <p:nvSpPr>
          <p:cNvPr id="52" name="Text 31"/>
          <p:cNvSpPr txBox="1"/>
          <p:nvPr/>
        </p:nvSpPr>
        <p:spPr>
          <a:xfrm>
            <a:off x="3131820" y="2075688"/>
            <a:ext cx="65745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-29" kern="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녹스(Knox)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b="1" spc="-29" kern="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회사 결재</a:t>
            </a:r>
            <a:endParaRPr lang="en-US" sz="900" dirty="0"/>
          </a:p>
        </p:txBody>
      </p:sp>
      <p:pic>
        <p:nvPicPr>
          <p:cNvPr id="53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-43" b="-43"/>
          <a:stretch/>
        </p:blipFill>
        <p:spPr>
          <a:xfrm>
            <a:off x="4272077" y="2027225"/>
            <a:ext cx="133502" cy="152705"/>
          </a:xfrm>
          <a:prstGeom prst="rect">
            <a:avLst/>
          </a:prstGeom>
        </p:spPr>
      </p:pic>
      <p:sp>
        <p:nvSpPr>
          <p:cNvPr id="54" name="Shape 32"/>
          <p:cNvSpPr/>
          <p:nvPr/>
        </p:nvSpPr>
        <p:spPr>
          <a:xfrm>
            <a:off x="4453128" y="1651406"/>
            <a:ext cx="1533449" cy="905256"/>
          </a:xfrm>
          <a:prstGeom prst="roundRect">
            <a:avLst>
              <a:gd name="adj" fmla="val 10633"/>
            </a:avLst>
          </a:prstGeom>
          <a:solidFill>
            <a:srgbClr val="FFF1F2"/>
          </a:solidFill>
          <a:ln w="12700">
            <a:solidFill>
              <a:srgbClr val="FCA5A5"/>
            </a:solidFill>
            <a:prstDash val="solid"/>
          </a:ln>
        </p:spPr>
      </p:sp>
      <p:pic>
        <p:nvPicPr>
          <p:cNvPr id="55" name="Image 20" descr="preencoded.png">    </p:cNvPr>
          <p:cNvPicPr>
            <a:picLocks noChangeAspect="1"/>
          </p:cNvPicPr>
          <p:nvPr/>
        </p:nvPicPr>
        <p:blipFill>
          <a:blip r:embed="rId21"/>
          <a:srcRect l="-1282" r="-1282" t="0" b="0"/>
          <a:stretch/>
        </p:blipFill>
        <p:spPr>
          <a:xfrm>
            <a:off x="5107838" y="1809598"/>
            <a:ext cx="219456" cy="190195"/>
          </a:xfrm>
          <a:prstGeom prst="rect">
            <a:avLst/>
          </a:prstGeom>
        </p:spPr>
      </p:pic>
      <p:sp>
        <p:nvSpPr>
          <p:cNvPr id="56" name="Text 33"/>
          <p:cNvSpPr txBox="1"/>
          <p:nvPr/>
        </p:nvSpPr>
        <p:spPr>
          <a:xfrm>
            <a:off x="4717390" y="2075688"/>
            <a:ext cx="10104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-29" kern="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ATIS(기간계)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b="1" spc="-29" kern="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인감 로그용 재결재</a:t>
            </a:r>
            <a:endParaRPr lang="en-US" sz="900" dirty="0"/>
          </a:p>
        </p:txBody>
      </p:sp>
      <p:pic>
        <p:nvPicPr>
          <p:cNvPr id="57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-43" b="-43"/>
          <a:stretch/>
        </p:blipFill>
        <p:spPr>
          <a:xfrm>
            <a:off x="6029554" y="2027225"/>
            <a:ext cx="133502" cy="152705"/>
          </a:xfrm>
          <a:prstGeom prst="rect">
            <a:avLst/>
          </a:prstGeom>
        </p:spPr>
      </p:pic>
      <p:pic>
        <p:nvPicPr>
          <p:cNvPr id="58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858207" y="2456078"/>
            <a:ext cx="724205" cy="237744"/>
          </a:xfrm>
          <a:prstGeom prst="rect">
            <a:avLst/>
          </a:prstGeom>
        </p:spPr>
      </p:pic>
      <p:sp>
        <p:nvSpPr>
          <p:cNvPr id="59" name="Text 34"/>
          <p:cNvSpPr/>
          <p:nvPr/>
        </p:nvSpPr>
        <p:spPr>
          <a:xfrm>
            <a:off x="5086807" y="2456078"/>
            <a:ext cx="495605" cy="23865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CA5A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-16" kern="0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 입력</a:t>
            </a:r>
            <a:endParaRPr lang="en-US" sz="800" dirty="0"/>
          </a:p>
        </p:txBody>
      </p:sp>
      <p:pic>
        <p:nvPicPr>
          <p:cNvPr id="60" name="Image 23" descr="preencoded.png">    </p:cNvPr>
          <p:cNvPicPr>
            <a:picLocks noChangeAspect="1"/>
          </p:cNvPicPr>
          <p:nvPr/>
        </p:nvPicPr>
        <p:blipFill>
          <a:blip r:embed="rId24"/>
          <a:srcRect l="-7143" r="-7143" t="0" b="0"/>
          <a:stretch/>
        </p:blipFill>
        <p:spPr>
          <a:xfrm>
            <a:off x="4943246" y="2526487"/>
            <a:ext cx="105156" cy="105156"/>
          </a:xfrm>
          <a:prstGeom prst="rect">
            <a:avLst/>
          </a:prstGeom>
        </p:spPr>
      </p:pic>
      <p:sp>
        <p:nvSpPr>
          <p:cNvPr id="61" name="Shape 35"/>
          <p:cNvSpPr/>
          <p:nvPr/>
        </p:nvSpPr>
        <p:spPr>
          <a:xfrm>
            <a:off x="6210605" y="1651406"/>
            <a:ext cx="1533449" cy="905256"/>
          </a:xfrm>
          <a:prstGeom prst="roundRect">
            <a:avLst>
              <a:gd name="adj" fmla="val 106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2" name="Image 24" descr="preencoded.png">    </p:cNvPr>
          <p:cNvPicPr>
            <a:picLocks noChangeAspect="1"/>
          </p:cNvPicPr>
          <p:nvPr/>
        </p:nvPicPr>
        <p:blipFill>
          <a:blip r:embed="rId25"/>
          <a:srcRect l="0" r="0" t="0" b="0"/>
          <a:stretch/>
        </p:blipFill>
        <p:spPr>
          <a:xfrm>
            <a:off x="6902806" y="1809598"/>
            <a:ext cx="142646" cy="190195"/>
          </a:xfrm>
          <a:prstGeom prst="rect">
            <a:avLst/>
          </a:prstGeom>
        </p:spPr>
      </p:pic>
      <p:sp>
        <p:nvSpPr>
          <p:cNvPr id="63" name="Text 36"/>
          <p:cNvSpPr txBox="1"/>
          <p:nvPr/>
        </p:nvSpPr>
        <p:spPr>
          <a:xfrm>
            <a:off x="6709867" y="2075688"/>
            <a:ext cx="5340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-29" kern="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ATIS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b="1" spc="-29" kern="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결재 승인</a:t>
            </a:r>
            <a:endParaRPr lang="en-US" sz="900" dirty="0"/>
          </a:p>
        </p:txBody>
      </p:sp>
      <p:pic>
        <p:nvPicPr>
          <p:cNvPr id="64" name="Image 25" descr="preencoded.png">    </p:cNvPr>
          <p:cNvPicPr>
            <a:picLocks noChangeAspect="1"/>
          </p:cNvPicPr>
          <p:nvPr/>
        </p:nvPicPr>
        <p:blipFill>
          <a:blip r:embed="rId26"/>
          <a:srcRect l="0" r="0" t="-43" b="-43"/>
          <a:stretch/>
        </p:blipFill>
        <p:spPr>
          <a:xfrm>
            <a:off x="7786116" y="2027225"/>
            <a:ext cx="133502" cy="152705"/>
          </a:xfrm>
          <a:prstGeom prst="rect">
            <a:avLst/>
          </a:prstGeom>
        </p:spPr>
      </p:pic>
      <p:sp>
        <p:nvSpPr>
          <p:cNvPr id="65" name="Shape 37"/>
          <p:cNvSpPr/>
          <p:nvPr/>
        </p:nvSpPr>
        <p:spPr>
          <a:xfrm>
            <a:off x="7967167" y="1651406"/>
            <a:ext cx="1533449" cy="905256"/>
          </a:xfrm>
          <a:prstGeom prst="roundRect">
            <a:avLst>
              <a:gd name="adj" fmla="val 10633"/>
            </a:avLst>
          </a:prstGeom>
          <a:solidFill>
            <a:srgbClr val="FFF1F2"/>
          </a:solidFill>
          <a:ln w="12700">
            <a:solidFill>
              <a:srgbClr val="FCA5A5"/>
            </a:solidFill>
            <a:prstDash val="solid"/>
          </a:ln>
        </p:spPr>
      </p:sp>
      <p:pic>
        <p:nvPicPr>
          <p:cNvPr id="66" name="Image 26" descr="preencoded.png">    </p:cNvPr>
          <p:cNvPicPr>
            <a:picLocks noChangeAspect="1"/>
          </p:cNvPicPr>
          <p:nvPr/>
        </p:nvPicPr>
        <p:blipFill>
          <a:blip r:embed="rId27"/>
          <a:srcRect l="0" r="0" t="0" b="0"/>
          <a:stretch/>
        </p:blipFill>
        <p:spPr>
          <a:xfrm>
            <a:off x="8636508" y="1890065"/>
            <a:ext cx="190195" cy="190195"/>
          </a:xfrm>
          <a:prstGeom prst="rect">
            <a:avLst/>
          </a:prstGeom>
        </p:spPr>
      </p:pic>
      <p:sp>
        <p:nvSpPr>
          <p:cNvPr id="67" name="Text 38"/>
          <p:cNvSpPr txBox="1"/>
          <p:nvPr/>
        </p:nvSpPr>
        <p:spPr>
          <a:xfrm>
            <a:off x="8583473" y="2156155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-29" kern="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출력</a:t>
            </a:r>
            <a:endParaRPr lang="en-US" sz="900" dirty="0"/>
          </a:p>
        </p:txBody>
      </p:sp>
      <p:pic>
        <p:nvPicPr>
          <p:cNvPr id="68" name="Image 27" descr="preencoded.png">    </p:cNvPr>
          <p:cNvPicPr>
            <a:picLocks noChangeAspect="1"/>
          </p:cNvPicPr>
          <p:nvPr/>
        </p:nvPicPr>
        <p:blipFill>
          <a:blip r:embed="rId28"/>
          <a:srcRect l="0" r="0" t="-43" b="-43"/>
          <a:stretch/>
        </p:blipFill>
        <p:spPr>
          <a:xfrm>
            <a:off x="9543593" y="2027225"/>
            <a:ext cx="133502" cy="152705"/>
          </a:xfrm>
          <a:prstGeom prst="rect">
            <a:avLst/>
          </a:prstGeom>
        </p:spPr>
      </p:pic>
      <p:pic>
        <p:nvPicPr>
          <p:cNvPr id="69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977226" y="1546250"/>
            <a:ext cx="629107" cy="237744"/>
          </a:xfrm>
          <a:prstGeom prst="rect">
            <a:avLst/>
          </a:prstGeom>
        </p:spPr>
      </p:pic>
      <p:sp>
        <p:nvSpPr>
          <p:cNvPr id="70" name="Text 39"/>
          <p:cNvSpPr/>
          <p:nvPr/>
        </p:nvSpPr>
        <p:spPr>
          <a:xfrm>
            <a:off x="8214970" y="1546250"/>
            <a:ext cx="391363" cy="23865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CA5A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-16" kern="0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Paper</a:t>
            </a:r>
            <a:endParaRPr lang="en-US" sz="800" dirty="0"/>
          </a:p>
        </p:txBody>
      </p:sp>
      <p:pic>
        <p:nvPicPr>
          <p:cNvPr id="71" name="Image 29" descr="preencoded.png">    </p:cNvPr>
          <p:cNvPicPr>
            <a:picLocks noChangeAspect="1"/>
          </p:cNvPicPr>
          <p:nvPr/>
        </p:nvPicPr>
        <p:blipFill>
          <a:blip r:embed="rId30"/>
          <a:srcRect l="0" r="0" t="-1750" b="-1750"/>
          <a:stretch/>
        </p:blipFill>
        <p:spPr>
          <a:xfrm>
            <a:off x="8062265" y="1616659"/>
            <a:ext cx="114300" cy="105156"/>
          </a:xfrm>
          <a:prstGeom prst="rect">
            <a:avLst/>
          </a:prstGeom>
        </p:spPr>
      </p:pic>
      <p:pic>
        <p:nvPicPr>
          <p:cNvPr id="7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524037" y="2460650"/>
            <a:ext cx="418795" cy="181051"/>
          </a:xfrm>
          <a:prstGeom prst="rect">
            <a:avLst/>
          </a:prstGeom>
        </p:spPr>
      </p:pic>
      <p:sp>
        <p:nvSpPr>
          <p:cNvPr id="73" name="Text 40"/>
          <p:cNvSpPr/>
          <p:nvPr/>
        </p:nvSpPr>
        <p:spPr>
          <a:xfrm>
            <a:off x="8524037" y="2460650"/>
            <a:ext cx="419710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비효율</a:t>
            </a:r>
            <a:endParaRPr lang="en-US" sz="800" dirty="0"/>
          </a:p>
        </p:txBody>
      </p:sp>
      <p:sp>
        <p:nvSpPr>
          <p:cNvPr id="74" name="Shape 41"/>
          <p:cNvSpPr/>
          <p:nvPr/>
        </p:nvSpPr>
        <p:spPr>
          <a:xfrm>
            <a:off x="9724644" y="1651406"/>
            <a:ext cx="1533449" cy="905256"/>
          </a:xfrm>
          <a:prstGeom prst="roundRect">
            <a:avLst>
              <a:gd name="adj" fmla="val 106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5" name="Image 31" descr="preencoded.png">    </p:cNvPr>
          <p:cNvPicPr>
            <a:picLocks noChangeAspect="1"/>
          </p:cNvPicPr>
          <p:nvPr/>
        </p:nvPicPr>
        <p:blipFill>
          <a:blip r:embed="rId32"/>
          <a:srcRect l="0" r="0" t="0" b="0"/>
          <a:stretch/>
        </p:blipFill>
        <p:spPr>
          <a:xfrm>
            <a:off x="10393985" y="1890065"/>
            <a:ext cx="190195" cy="190195"/>
          </a:xfrm>
          <a:prstGeom prst="rect">
            <a:avLst/>
          </a:prstGeom>
        </p:spPr>
      </p:pic>
      <p:sp>
        <p:nvSpPr>
          <p:cNvPr id="76" name="Text 42"/>
          <p:cNvSpPr txBox="1"/>
          <p:nvPr/>
        </p:nvSpPr>
        <p:spPr>
          <a:xfrm>
            <a:off x="10195560" y="2156155"/>
            <a:ext cx="59161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-29" kern="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날인 요청</a:t>
            </a:r>
            <a:endParaRPr lang="en-US" sz="900" dirty="0"/>
          </a:p>
        </p:txBody>
      </p:sp>
      <p:pic>
        <p:nvPicPr>
          <p:cNvPr id="77" name="Image 32" descr="preencoded.png">    </p:cNvPr>
          <p:cNvPicPr>
            <a:picLocks noChangeAspect="1"/>
          </p:cNvPicPr>
          <p:nvPr/>
        </p:nvPicPr>
        <p:blipFill>
          <a:blip r:embed="rId33"/>
          <a:srcRect l="-320" r="-320" t="0" b="0"/>
          <a:stretch/>
        </p:blipFill>
        <p:spPr>
          <a:xfrm>
            <a:off x="10469880" y="2527402"/>
            <a:ext cx="19202" cy="286207"/>
          </a:xfrm>
          <a:prstGeom prst="rect">
            <a:avLst/>
          </a:prstGeom>
        </p:spPr>
      </p:pic>
      <p:pic>
        <p:nvPicPr>
          <p:cNvPr id="78" name="Image 33" descr="preencoded.png">    </p:cNvPr>
          <p:cNvPicPr>
            <a:picLocks noChangeAspect="1"/>
          </p:cNvPicPr>
          <p:nvPr/>
        </p:nvPicPr>
        <p:blipFill>
          <a:blip r:embed="rId34"/>
          <a:srcRect l="0" r="0" t="-403" b="-403"/>
          <a:stretch/>
        </p:blipFill>
        <p:spPr>
          <a:xfrm>
            <a:off x="6564478" y="2794406"/>
            <a:ext cx="7849210" cy="19202"/>
          </a:xfrm>
          <a:prstGeom prst="rect">
            <a:avLst/>
          </a:prstGeom>
        </p:spPr>
      </p:pic>
      <p:pic>
        <p:nvPicPr>
          <p:cNvPr id="79" name="Image 34" descr="preencoded.png">    </p:cNvPr>
          <p:cNvPicPr>
            <a:picLocks noChangeAspect="1"/>
          </p:cNvPicPr>
          <p:nvPr/>
        </p:nvPicPr>
        <p:blipFill>
          <a:blip r:embed="rId35"/>
          <a:srcRect l="-481" r="-481" t="0" b="0"/>
          <a:stretch/>
        </p:blipFill>
        <p:spPr>
          <a:xfrm>
            <a:off x="14394485" y="2670048"/>
            <a:ext cx="19202" cy="142646"/>
          </a:xfrm>
          <a:prstGeom prst="rect">
            <a:avLst/>
          </a:prstGeom>
        </p:spPr>
      </p:pic>
      <p:pic>
        <p:nvPicPr>
          <p:cNvPr id="80" name="Image 35" descr="preencoded.png">    </p:cNvPr>
          <p:cNvPicPr>
            <a:picLocks noChangeAspect="1"/>
          </p:cNvPicPr>
          <p:nvPr/>
        </p:nvPicPr>
        <p:blipFill>
          <a:blip r:embed="rId36"/>
          <a:srcRect l="-2512" r="-2512" t="0" b="0"/>
          <a:stretch/>
        </p:blipFill>
        <p:spPr>
          <a:xfrm>
            <a:off x="14346936" y="2775204"/>
            <a:ext cx="105156" cy="133502"/>
          </a:xfrm>
          <a:prstGeom prst="rect">
            <a:avLst/>
          </a:prstGeom>
        </p:spPr>
      </p:pic>
      <p:pic>
        <p:nvPicPr>
          <p:cNvPr id="81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831982" y="1565453"/>
            <a:ext cx="495605" cy="219456"/>
          </a:xfrm>
          <a:prstGeom prst="rect">
            <a:avLst/>
          </a:prstGeom>
        </p:spPr>
      </p:pic>
      <p:sp>
        <p:nvSpPr>
          <p:cNvPr id="82" name="Text 43"/>
          <p:cNvSpPr/>
          <p:nvPr/>
        </p:nvSpPr>
        <p:spPr>
          <a:xfrm>
            <a:off x="11051438" y="1565453"/>
            <a:ext cx="276149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대기</a:t>
            </a:r>
            <a:endParaRPr lang="en-US" sz="800" dirty="0"/>
          </a:p>
        </p:txBody>
      </p:sp>
      <p:pic>
        <p:nvPicPr>
          <p:cNvPr id="83" name="Image 37" descr="preencoded.png">    </p:cNvPr>
          <p:cNvPicPr>
            <a:picLocks noChangeAspect="1"/>
          </p:cNvPicPr>
          <p:nvPr/>
        </p:nvPicPr>
        <p:blipFill>
          <a:blip r:embed="rId38"/>
          <a:srcRect l="0" r="0" t="0" b="0"/>
          <a:stretch/>
        </p:blipFill>
        <p:spPr>
          <a:xfrm>
            <a:off x="10907878" y="1620317"/>
            <a:ext cx="105156" cy="105156"/>
          </a:xfrm>
          <a:prstGeom prst="rect">
            <a:avLst/>
          </a:prstGeom>
        </p:spPr>
      </p:pic>
      <p:sp>
        <p:nvSpPr>
          <p:cNvPr id="84" name="Shape 44"/>
          <p:cNvSpPr/>
          <p:nvPr/>
        </p:nvSpPr>
        <p:spPr>
          <a:xfrm>
            <a:off x="1904695" y="4794199"/>
            <a:ext cx="1904695" cy="1047902"/>
          </a:xfrm>
          <a:prstGeom prst="roundRect">
            <a:avLst>
              <a:gd name="adj" fmla="val 11106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38100" dir="16200000">
              <a:srgbClr val="3b82f6">
                <a:alpha val="10000"/>
              </a:srgbClr>
            </a:outerShdw>
          </a:effectLst>
        </p:spPr>
      </p:sp>
      <p:pic>
        <p:nvPicPr>
          <p:cNvPr id="85" name="Image 38" descr="preencoded.png">    </p:cNvPr>
          <p:cNvPicPr>
            <a:picLocks noChangeAspect="1"/>
          </p:cNvPicPr>
          <p:nvPr/>
        </p:nvPicPr>
        <p:blipFill>
          <a:blip r:embed="rId39"/>
          <a:srcRect l="-50" r="-50" t="0" b="0"/>
          <a:stretch/>
        </p:blipFill>
        <p:spPr>
          <a:xfrm>
            <a:off x="2743200" y="4897526"/>
            <a:ext cx="228600" cy="304495"/>
          </a:xfrm>
          <a:prstGeom prst="rect">
            <a:avLst/>
          </a:prstGeom>
        </p:spPr>
      </p:pic>
      <p:sp>
        <p:nvSpPr>
          <p:cNvPr id="86" name="Text 45"/>
          <p:cNvSpPr txBox="1"/>
          <p:nvPr/>
        </p:nvSpPr>
        <p:spPr>
          <a:xfrm>
            <a:off x="2494483" y="5298034"/>
            <a:ext cx="8942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-24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 선택</a:t>
            </a:r>
            <a:endParaRPr lang="en-US" sz="1200" dirty="0"/>
          </a:p>
        </p:txBody>
      </p:sp>
      <p:sp>
        <p:nvSpPr>
          <p:cNvPr id="87" name="Text 46"/>
          <p:cNvSpPr txBox="1"/>
          <p:nvPr/>
        </p:nvSpPr>
        <p:spPr>
          <a:xfrm>
            <a:off x="2480767" y="5553151"/>
            <a:ext cx="9235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 양식 활용</a:t>
            </a:r>
            <a:endParaRPr lang="en-US" sz="900" dirty="0"/>
          </a:p>
        </p:txBody>
      </p:sp>
      <p:sp>
        <p:nvSpPr>
          <p:cNvPr id="88" name="Shape 47"/>
          <p:cNvSpPr/>
          <p:nvPr/>
        </p:nvSpPr>
        <p:spPr>
          <a:xfrm>
            <a:off x="5143500" y="4794199"/>
            <a:ext cx="1904695" cy="1047902"/>
          </a:xfrm>
          <a:prstGeom prst="roundRect">
            <a:avLst>
              <a:gd name="adj" fmla="val 11106"/>
            </a:avLst>
          </a:prstGeom>
          <a:solidFill>
            <a:srgbClr val="E0F2FE"/>
          </a:solidFill>
          <a:ln w="25400">
            <a:solidFill>
              <a:srgbClr val="034EA2"/>
            </a:solidFill>
            <a:prstDash val="solid"/>
          </a:ln>
          <a:effectLst>
            <a:outerShdw sx="100000" sy="100000" kx="0" ky="0" algn="bl" rotWithShape="0" blurRad="114300" dist="38100" dir="16200000">
              <a:srgbClr val="034ea2">
                <a:alpha val="15000"/>
              </a:srgbClr>
            </a:outerShdw>
          </a:effectLst>
        </p:spPr>
      </p:sp>
      <p:pic>
        <p:nvPicPr>
          <p:cNvPr id="89" name="Image 39" descr="preencoded.png">    </p:cNvPr>
          <p:cNvPicPr>
            <a:picLocks noChangeAspect="1"/>
          </p:cNvPicPr>
          <p:nvPr/>
        </p:nvPicPr>
        <p:blipFill>
          <a:blip r:embed="rId40"/>
          <a:srcRect l="-50" r="-50" t="0" b="0"/>
          <a:stretch/>
        </p:blipFill>
        <p:spPr>
          <a:xfrm>
            <a:off x="5924398" y="4897526"/>
            <a:ext cx="342900" cy="304495"/>
          </a:xfrm>
          <a:prstGeom prst="rect">
            <a:avLst/>
          </a:prstGeom>
        </p:spPr>
      </p:pic>
      <p:sp>
        <p:nvSpPr>
          <p:cNvPr id="90" name="Text 48"/>
          <p:cNvSpPr txBox="1"/>
          <p:nvPr/>
        </p:nvSpPr>
        <p:spPr>
          <a:xfrm>
            <a:off x="5801868" y="5298034"/>
            <a:ext cx="7342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-24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 서명</a:t>
            </a:r>
            <a:endParaRPr lang="en-US" sz="1200" dirty="0"/>
          </a:p>
        </p:txBody>
      </p:sp>
      <p:sp>
        <p:nvSpPr>
          <p:cNvPr id="91" name="Text 49"/>
          <p:cNvSpPr txBox="1"/>
          <p:nvPr/>
        </p:nvSpPr>
        <p:spPr>
          <a:xfrm>
            <a:off x="5719572" y="5553151"/>
            <a:ext cx="9518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34EA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법적 효력 동일</a:t>
            </a:r>
            <a:endParaRPr lang="en-US" sz="900" dirty="0"/>
          </a:p>
        </p:txBody>
      </p:sp>
      <p:pic>
        <p:nvPicPr>
          <p:cNvPr id="92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5781751" y="4699102"/>
            <a:ext cx="638251" cy="228600"/>
          </a:xfrm>
          <a:prstGeom prst="rect">
            <a:avLst/>
          </a:prstGeom>
        </p:spPr>
      </p:pic>
      <p:sp>
        <p:nvSpPr>
          <p:cNvPr id="93" name="Text 50"/>
          <p:cNvSpPr/>
          <p:nvPr/>
        </p:nvSpPr>
        <p:spPr>
          <a:xfrm>
            <a:off x="5781751" y="4699102"/>
            <a:ext cx="63825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S-TAMP</a:t>
            </a:r>
            <a:endParaRPr lang="en-US" sz="900" dirty="0"/>
          </a:p>
        </p:txBody>
      </p:sp>
      <p:sp>
        <p:nvSpPr>
          <p:cNvPr id="94" name="Shape 51"/>
          <p:cNvSpPr/>
          <p:nvPr/>
        </p:nvSpPr>
        <p:spPr>
          <a:xfrm>
            <a:off x="8382305" y="4794199"/>
            <a:ext cx="1904695" cy="1047902"/>
          </a:xfrm>
          <a:prstGeom prst="roundRect">
            <a:avLst>
              <a:gd name="adj" fmla="val 11106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38100" dir="16200000">
              <a:srgbClr val="3b82f6">
                <a:alpha val="10000"/>
              </a:srgbClr>
            </a:outerShdw>
          </a:effectLst>
        </p:spPr>
      </p:sp>
      <p:pic>
        <p:nvPicPr>
          <p:cNvPr id="95" name="Image 41" descr="preencoded.png">    </p:cNvPr>
          <p:cNvPicPr>
            <a:picLocks noChangeAspect="1"/>
          </p:cNvPicPr>
          <p:nvPr/>
        </p:nvPicPr>
        <p:blipFill>
          <a:blip r:embed="rId42"/>
          <a:srcRect l="0" r="0" t="0" b="0"/>
          <a:stretch/>
        </p:blipFill>
        <p:spPr>
          <a:xfrm>
            <a:off x="9182405" y="4897526"/>
            <a:ext cx="304495" cy="304495"/>
          </a:xfrm>
          <a:prstGeom prst="rect">
            <a:avLst/>
          </a:prstGeom>
        </p:spPr>
      </p:pic>
      <p:sp>
        <p:nvSpPr>
          <p:cNvPr id="96" name="Text 52"/>
          <p:cNvSpPr txBox="1"/>
          <p:nvPr/>
        </p:nvSpPr>
        <p:spPr>
          <a:xfrm>
            <a:off x="8875166" y="5298034"/>
            <a:ext cx="114940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-24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발송/보관</a:t>
            </a:r>
            <a:endParaRPr lang="en-US" sz="1200" dirty="0"/>
          </a:p>
        </p:txBody>
      </p:sp>
      <p:sp>
        <p:nvSpPr>
          <p:cNvPr id="97" name="Text 53"/>
          <p:cNvSpPr txBox="1"/>
          <p:nvPr/>
        </p:nvSpPr>
        <p:spPr>
          <a:xfrm>
            <a:off x="8894369" y="5553151"/>
            <a:ext cx="105247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유통/저장</a:t>
            </a:r>
            <a:endParaRPr lang="en-US" sz="900" dirty="0"/>
          </a:p>
        </p:txBody>
      </p:sp>
      <p:pic>
        <p:nvPicPr>
          <p:cNvPr id="98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205679" y="3694176"/>
            <a:ext cx="724205" cy="237744"/>
          </a:xfrm>
          <a:prstGeom prst="rect">
            <a:avLst/>
          </a:prstGeom>
        </p:spPr>
      </p:pic>
      <p:sp>
        <p:nvSpPr>
          <p:cNvPr id="99" name="Text 54"/>
          <p:cNvSpPr/>
          <p:nvPr/>
        </p:nvSpPr>
        <p:spPr>
          <a:xfrm>
            <a:off x="5434279" y="3694176"/>
            <a:ext cx="495605" cy="23865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CA5A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-16" kern="0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발생</a:t>
            </a:r>
            <a:endParaRPr lang="en-US" sz="800" dirty="0"/>
          </a:p>
        </p:txBody>
      </p:sp>
      <p:pic>
        <p:nvPicPr>
          <p:cNvPr id="100" name="Image 43" descr="preencoded.png">    </p:cNvPr>
          <p:cNvPicPr>
            <a:picLocks noChangeAspect="1"/>
          </p:cNvPicPr>
          <p:nvPr/>
        </p:nvPicPr>
        <p:blipFill>
          <a:blip r:embed="rId44"/>
          <a:srcRect l="0" r="0" t="0" b="0"/>
          <a:stretch/>
        </p:blipFill>
        <p:spPr>
          <a:xfrm>
            <a:off x="5291633" y="3764585"/>
            <a:ext cx="105156" cy="105156"/>
          </a:xfrm>
          <a:prstGeom prst="rect">
            <a:avLst/>
          </a:prstGeom>
        </p:spPr>
      </p:pic>
      <p:pic>
        <p:nvPicPr>
          <p:cNvPr id="101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0422331" y="2784348"/>
            <a:ext cx="828446" cy="237744"/>
          </a:xfrm>
          <a:prstGeom prst="rect">
            <a:avLst/>
          </a:prstGeom>
        </p:spPr>
      </p:pic>
      <p:sp>
        <p:nvSpPr>
          <p:cNvPr id="102" name="Text 55"/>
          <p:cNvSpPr/>
          <p:nvPr/>
        </p:nvSpPr>
        <p:spPr>
          <a:xfrm>
            <a:off x="10650931" y="2784348"/>
            <a:ext cx="600761" cy="23865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CA5A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-16" kern="0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 시간↑</a:t>
            </a:r>
            <a:endParaRPr lang="en-US" sz="800" dirty="0"/>
          </a:p>
        </p:txBody>
      </p:sp>
      <p:pic>
        <p:nvPicPr>
          <p:cNvPr id="103" name="Image 45" descr="preencoded.png">    </p:cNvPr>
          <p:cNvPicPr>
            <a:picLocks noChangeAspect="1"/>
          </p:cNvPicPr>
          <p:nvPr/>
        </p:nvPicPr>
        <p:blipFill>
          <a:blip r:embed="rId46"/>
          <a:srcRect l="0" r="0" t="0" b="0"/>
          <a:stretch/>
        </p:blipFill>
        <p:spPr>
          <a:xfrm>
            <a:off x="10508285" y="2854757"/>
            <a:ext cx="105156" cy="105156"/>
          </a:xfrm>
          <a:prstGeom prst="rect">
            <a:avLst/>
          </a:prstGeom>
        </p:spPr>
      </p:pic>
      <p:sp>
        <p:nvSpPr>
          <p:cNvPr id="104" name="Shape 56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034EA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Text 57"/>
          <p:cNvSpPr txBox="1"/>
          <p:nvPr/>
        </p:nvSpPr>
        <p:spPr>
          <a:xfrm>
            <a:off x="476402" y="142646"/>
            <a:ext cx="37481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-56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프로세스 복잡도 개선 비교</a:t>
            </a:r>
            <a:endParaRPr lang="en-US" sz="2200" dirty="0"/>
          </a:p>
        </p:txBody>
      </p:sp>
      <p:sp>
        <p:nvSpPr>
          <p:cNvPr id="106" name="Text 58"/>
          <p:cNvSpPr txBox="1"/>
          <p:nvPr/>
        </p:nvSpPr>
        <p:spPr>
          <a:xfrm>
            <a:off x="9362542" y="200254"/>
            <a:ext cx="23582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" kern="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SAMSUNG ASSET MANAGEMENT</a:t>
            </a:r>
            <a:endParaRPr lang="en-US" sz="900" dirty="0"/>
          </a:p>
        </p:txBody>
      </p:sp>
      <p:sp>
        <p:nvSpPr>
          <p:cNvPr id="107" name="Text 59"/>
          <p:cNvSpPr txBox="1"/>
          <p:nvPr/>
        </p:nvSpPr>
        <p:spPr>
          <a:xfrm>
            <a:off x="9362542" y="390449"/>
            <a:ext cx="235823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-34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DIGITAL TRANSFORMATION</a:t>
            </a:r>
            <a:endParaRPr lang="en-US" sz="1300" dirty="0"/>
          </a:p>
        </p:txBody>
      </p:sp>
      <p:sp>
        <p:nvSpPr>
          <p:cNvPr id="108" name="Text 60"/>
          <p:cNvSpPr txBox="1"/>
          <p:nvPr/>
        </p:nvSpPr>
        <p:spPr>
          <a:xfrm>
            <a:off x="476402" y="523951"/>
            <a:ext cx="36630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BEAFE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S-TAMP 솔루션 도입을 통한 프로세스 단순화 및 효율화</a:t>
            </a:r>
            <a:endParaRPr lang="en-US" sz="1000" dirty="0"/>
          </a:p>
        </p:txBody>
      </p:sp>
      <p:pic>
        <p:nvPicPr>
          <p:cNvPr id="109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766560" y="3698748"/>
            <a:ext cx="418795" cy="181051"/>
          </a:xfrm>
          <a:prstGeom prst="rect">
            <a:avLst/>
          </a:prstGeom>
        </p:spPr>
      </p:pic>
      <p:sp>
        <p:nvSpPr>
          <p:cNvPr id="110" name="Text 61"/>
          <p:cNvSpPr/>
          <p:nvPr/>
        </p:nvSpPr>
        <p:spPr>
          <a:xfrm>
            <a:off x="6766560" y="3698748"/>
            <a:ext cx="419710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비효율</a:t>
            </a:r>
            <a:endParaRPr lang="en-US" sz="800" dirty="0"/>
          </a:p>
        </p:txBody>
      </p:sp>
      <p:pic>
        <p:nvPicPr>
          <p:cNvPr id="111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0281514" y="3698748"/>
            <a:ext cx="418795" cy="181051"/>
          </a:xfrm>
          <a:prstGeom prst="rect">
            <a:avLst/>
          </a:prstGeom>
        </p:spPr>
      </p:pic>
      <p:sp>
        <p:nvSpPr>
          <p:cNvPr id="112" name="Text 62"/>
          <p:cNvSpPr/>
          <p:nvPr/>
        </p:nvSpPr>
        <p:spPr>
          <a:xfrm>
            <a:off x="10281514" y="3698748"/>
            <a:ext cx="419710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비효율</a:t>
            </a:r>
            <a:endParaRPr lang="en-US" sz="800" dirty="0"/>
          </a:p>
        </p:txBody>
      </p:sp>
      <p:sp>
        <p:nvSpPr>
          <p:cNvPr id="113" name="Shape 63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4" name="Shape 64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15" name="Text 65"/>
          <p:cNvSpPr txBox="1"/>
          <p:nvPr/>
        </p:nvSpPr>
        <p:spPr>
          <a:xfrm>
            <a:off x="476402" y="6586423"/>
            <a:ext cx="23829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2026.03 삼성자산운용 전자서명 중간보고</a:t>
            </a:r>
            <a:endParaRPr lang="en-US" sz="900" dirty="0"/>
          </a:p>
        </p:txBody>
      </p:sp>
      <p:sp>
        <p:nvSpPr>
          <p:cNvPr id="116" name="Text 66"/>
          <p:cNvSpPr txBox="1"/>
          <p:nvPr/>
        </p:nvSpPr>
        <p:spPr>
          <a:xfrm>
            <a:off x="10034626" y="6586423"/>
            <a:ext cx="6483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SAMSUNG</a:t>
            </a:r>
            <a:endParaRPr lang="en-US" sz="900" dirty="0"/>
          </a:p>
        </p:txBody>
      </p:sp>
      <p:sp>
        <p:nvSpPr>
          <p:cNvPr id="117" name="Text 67"/>
          <p:cNvSpPr txBox="1"/>
          <p:nvPr/>
        </p:nvSpPr>
        <p:spPr>
          <a:xfrm>
            <a:off x="10677449" y="6586423"/>
            <a:ext cx="113934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 Management</a:t>
            </a:r>
            <a:endParaRPr lang="en-US" sz="900" dirty="0"/>
          </a:p>
        </p:txBody>
      </p:sp>
      <p:pic>
        <p:nvPicPr>
          <p:cNvPr id="118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5560466" y="2803550"/>
            <a:ext cx="495605" cy="219456"/>
          </a:xfrm>
          <a:prstGeom prst="rect">
            <a:avLst/>
          </a:prstGeom>
        </p:spPr>
      </p:pic>
      <p:sp>
        <p:nvSpPr>
          <p:cNvPr id="119" name="Text 68"/>
          <p:cNvSpPr/>
          <p:nvPr/>
        </p:nvSpPr>
        <p:spPr>
          <a:xfrm>
            <a:off x="5779922" y="2803550"/>
            <a:ext cx="276149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지연</a:t>
            </a:r>
            <a:endParaRPr lang="en-US" sz="800" dirty="0"/>
          </a:p>
        </p:txBody>
      </p:sp>
      <p:pic>
        <p:nvPicPr>
          <p:cNvPr id="120" name="Image 49" descr="preencoded.png">    </p:cNvPr>
          <p:cNvPicPr>
            <a:picLocks noChangeAspect="1"/>
          </p:cNvPicPr>
          <p:nvPr/>
        </p:nvPicPr>
        <p:blipFill>
          <a:blip r:embed="rId50"/>
          <a:srcRect l="0" r="0" t="0" b="0"/>
          <a:stretch/>
        </p:blipFill>
        <p:spPr>
          <a:xfrm>
            <a:off x="5636362" y="2858414"/>
            <a:ext cx="105156" cy="1051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2026-02-24T01:53:00Z</dcterms:created>
  <dcterms:modified xsi:type="dcterms:W3CDTF">2026-02-24T01:53:00Z</dcterms:modified>
</cp:coreProperties>
</file>